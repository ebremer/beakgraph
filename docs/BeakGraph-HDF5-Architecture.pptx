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6984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1F2A44"/>
                </a:solidFill>
              </a:defRPr>
            </a:pPr>
            <a:r>
              <a:t>BeakGraph HDF5 Files</a:t>
            </a:r>
          </a:p>
          <a:p>
            <a:pPr>
              <a:defRPr sz="2400">
                <a:solidFill>
                  <a:srgbClr val="0E7C66"/>
                </a:solidFill>
              </a:defRPr>
            </a:pPr>
            <a:r>
              <a:t>Architecture of the on-disk format</a:t>
            </a:r>
          </a:p>
          <a:p>
            <a:pPr>
              <a:defRPr sz="1600">
                <a:solidFill>
                  <a:srgbClr val="555A66"/>
                </a:solidFill>
              </a:defRPr>
            </a:pPr>
            <a:r>
              <a:t>Dictionary-encoded, columnar RDF quad stores — SPARQL-queryable at rest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A44"/>
                </a:solidFill>
              </a:defRPr>
            </a:pPr>
            <a:r>
              <a:t>What a BeakGraph file 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51560"/>
            <a:ext cx="11155680" cy="2540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F2A44"/>
                </a:solidFill>
              </a:defRPr>
            </a:pPr>
            <a:r>
              <a:t>One .h5 file = one immutable, self-contained RDF quad store</a:t>
            </a:r>
          </a:p>
          <a:p>
            <a:pPr lvl="1">
              <a:spcAft>
                <a:spcPts val="600"/>
              </a:spcAft>
              <a:defRPr sz="1500" b="0">
                <a:solidFill>
                  <a:srgbClr val="555A66"/>
                </a:solidFill>
              </a:defRPr>
            </a:pPr>
            <a:r>
              <a:t>Queried in place through Apache Jena — locally memory-mapped or remotely via HTTP range requests; the graph is never loaded into RAM</a:t>
            </a:r>
          </a:p>
          <a:p>
            <a:pPr>
              <a:spcAft>
                <a:spcPts val="600"/>
              </a:spcAft>
              <a:defRPr sz="1700" b="1">
                <a:solidFill>
                  <a:srgbClr val="1F2A44"/>
                </a:solidFill>
              </a:defRPr>
            </a:pPr>
            <a:r>
              <a:t>HDT-inspired design, generalized to quads (named graphs)</a:t>
            </a:r>
          </a:p>
          <a:p>
            <a:pPr lvl="1">
              <a:spcAft>
                <a:spcPts val="600"/>
              </a:spcAft>
              <a:defRPr sz="1500" b="0">
                <a:solidFill>
                  <a:srgbClr val="555A66"/>
                </a:solidFill>
              </a:defRPr>
            </a:pPr>
            <a:r>
              <a:t>Terms live once in dictionaries; triples/quads become tuples of integer ids</a:t>
            </a:r>
          </a:p>
          <a:p>
            <a:pPr lvl="1">
              <a:spcAft>
                <a:spcPts val="600"/>
              </a:spcAft>
              <a:defRPr sz="1500" b="0">
                <a:solidFill>
                  <a:srgbClr val="555A66"/>
                </a:solidFill>
              </a:defRPr>
            </a:pPr>
            <a:r>
              <a:t>Two orderings of the id tuples (GSPO, GPOS) answer all access patterns</a:t>
            </a:r>
          </a:p>
          <a:p>
            <a:pPr>
              <a:spcAft>
                <a:spcPts val="600"/>
              </a:spcAft>
              <a:defRPr sz="1700" b="1">
                <a:solidFill>
                  <a:srgbClr val="1F2A44"/>
                </a:solidFill>
              </a:defRPr>
            </a:pPr>
            <a:r>
              <a:t>Everything is bit-packed</a:t>
            </a:r>
          </a:p>
          <a:p>
            <a:pPr lvl="1">
              <a:spcAft>
                <a:spcPts val="600"/>
              </a:spcAft>
              <a:defRPr sz="1500" b="0">
                <a:solidFill>
                  <a:srgbClr val="555A66"/>
                </a:solidFill>
              </a:defRPr>
            </a:pPr>
            <a:r>
              <a:t>Every integer sequence is stored at the minimum byte-aligned width its value range needs, as raw big-endian bit-packed buffers</a:t>
            </a:r>
          </a:p>
          <a:p>
            <a:pPr>
              <a:spcAft>
                <a:spcPts val="600"/>
              </a:spcAft>
              <a:defRPr sz="1700" b="1">
                <a:solidFill>
                  <a:srgbClr val="1F2A44"/>
                </a:solidFill>
              </a:defRPr>
            </a:pPr>
            <a:r>
              <a:t>HDF5 as the container</a:t>
            </a:r>
          </a:p>
          <a:p>
            <a:pPr lvl="1">
              <a:spcAft>
                <a:spcPts val="600"/>
              </a:spcAft>
              <a:defRPr sz="1500" b="0">
                <a:solidFill>
                  <a:srgbClr val="555A66"/>
                </a:solidFill>
              </a:defRPr>
            </a:pPr>
            <a:r>
              <a:t>Groups/datasets/attributes give the file self-describing structure, tooling (h5dump, HDFView), and partial-read access for free</a:t>
            </a:r>
          </a:p>
          <a:p>
            <a:pPr>
              <a:spcAft>
                <a:spcPts val="600"/>
              </a:spcAft>
              <a:defRPr sz="1700" b="1">
                <a:solidFill>
                  <a:srgbClr val="1F2A44"/>
                </a:solidFill>
              </a:defRPr>
            </a:pPr>
            <a:r>
              <a:t>Written once, atomically (build to .tmp, rename); format version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A44"/>
                </a:solidFill>
              </a:defRPr>
            </a:pPr>
            <a:r>
              <a:t>File layout</a:t>
            </a:r>
          </a:p>
          <a:p>
            <a:pPr>
              <a:defRPr sz="1400">
                <a:solidFill>
                  <a:srgbClr val="555A66"/>
                </a:solidFill>
              </a:defRPr>
            </a:pPr>
            <a:r>
              <a:t>Groups and datasets inside the .h5 container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51560"/>
            <a:ext cx="11155680" cy="2540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A44"/>
                </a:solidFill>
                <a:latin typeface="Consolas"/>
              </a:defRPr>
            </a:pPr>
            <a:r>
              <a:t>/.BG                          attrs: numQuads, formatVersion (=3)</a:t>
            </a:r>
          </a:p>
          <a:p>
            <a:pPr>
              <a:defRPr sz="1300">
                <a:solidFill>
                  <a:srgbClr val="1F2A44"/>
                </a:solidFill>
                <a:latin typeface="Consolas"/>
              </a:defRPr>
            </a:pPr>
            <a:r>
              <a:t> |- dictionary/</a:t>
            </a:r>
          </a:p>
          <a:p>
            <a:pPr>
              <a:defRPr sz="1300">
                <a:solidFill>
                  <a:srgbClr val="1F2A44"/>
                </a:solidFill>
                <a:latin typeface="Consolas"/>
              </a:defRPr>
            </a:pPr>
            <a:r>
              <a:t> |   |- entities/             URIs + blank nodes from G, S, and entity O</a:t>
            </a:r>
          </a:p>
          <a:p>
            <a:pPr>
              <a:defRPr sz="1300">
                <a:solidFill>
                  <a:srgbClr val="1F2A44"/>
                </a:solidFill>
                <a:latin typeface="Consolas"/>
              </a:defRPr>
            </a:pPr>
            <a:r>
              <a:t> |   |- predicates/           predicate URIs</a:t>
            </a:r>
          </a:p>
          <a:p>
            <a:pPr>
              <a:defRPr sz="1300">
                <a:solidFill>
                  <a:srgbClr val="1F2A44"/>
                </a:solidFill>
                <a:latin typeface="Consolas"/>
              </a:defRPr>
            </a:pPr>
            <a:r>
              <a:t> |   |- literals/             every literal object</a:t>
            </a:r>
          </a:p>
          <a:p>
            <a:pPr>
              <a:defRPr sz="1300">
                <a:solidFill>
                  <a:srgbClr val="1F2A44"/>
                </a:solidFill>
                <a:latin typeface="Consolas"/>
              </a:defRPr>
            </a:pPr>
            <a:r>
              <a:t> |   |- graphs                (columnar id lists: the DISTINCT sorted ids</a:t>
            </a:r>
          </a:p>
          <a:p>
            <a:pPr>
              <a:defRPr sz="1300">
                <a:solidFill>
                  <a:srgbClr val="1F2A44"/>
                </a:solidFill>
                <a:latin typeface="Consolas"/>
              </a:defRPr>
            </a:pPr>
            <a:r>
              <a:t> |   |- subjects               used in each quad position - drives fast</a:t>
            </a:r>
          </a:p>
          <a:p>
            <a:pPr>
              <a:defRPr sz="1300">
                <a:solidFill>
                  <a:srgbClr val="1F2A44"/>
                </a:solidFill>
                <a:latin typeface="Consolas"/>
              </a:defRPr>
            </a:pPr>
            <a:r>
              <a:t> |   |- objects                enumeration and cardinality answers)</a:t>
            </a:r>
          </a:p>
          <a:p>
            <a:pPr>
              <a:defRPr sz="1300">
                <a:solidFill>
                  <a:srgbClr val="1F2A44"/>
                </a:solidFill>
                <a:latin typeface="Consolas"/>
              </a:defRPr>
            </a:pPr>
            <a:r>
              <a:t> |- GSPO/                     index ordered graph &gt; subject &gt; predicate &gt; object</a:t>
            </a:r>
          </a:p>
          <a:p>
            <a:pPr>
              <a:defRPr sz="1300">
                <a:solidFill>
                  <a:srgbClr val="1F2A44"/>
                </a:solidFill>
                <a:latin typeface="Consolas"/>
              </a:defRPr>
            </a:pPr>
            <a:r>
              <a:t> |   |- Ss  Bs   SBs  BBs     level 1 (subject layer)</a:t>
            </a:r>
          </a:p>
          <a:p>
            <a:pPr>
              <a:defRPr sz="1300">
                <a:solidFill>
                  <a:srgbClr val="1F2A44"/>
                </a:solidFill>
                <a:latin typeface="Consolas"/>
              </a:defRPr>
            </a:pPr>
            <a:r>
              <a:t> |   |- Sp  Bp   SBp  BBp     level 2 (predicate layer)</a:t>
            </a:r>
          </a:p>
          <a:p>
            <a:pPr>
              <a:defRPr sz="1300">
                <a:solidFill>
                  <a:srgbClr val="1F2A44"/>
                </a:solidFill>
                <a:latin typeface="Consolas"/>
              </a:defRPr>
            </a:pPr>
            <a:r>
              <a:t> |   |- So  Bo   SBo  BBo     level 3 (object layer)</a:t>
            </a:r>
          </a:p>
          <a:p>
            <a:pPr>
              <a:defRPr sz="1300">
                <a:solidFill>
                  <a:srgbClr val="1F2A44"/>
                </a:solidFill>
                <a:latin typeface="Consolas"/>
              </a:defRPr>
            </a:pPr>
            <a:r>
              <a:t> |- GPOS/                     index ordered graph &gt; predicate &gt; object &gt; subject</a:t>
            </a:r>
          </a:p>
          <a:p>
            <a:pPr>
              <a:defRPr sz="1300">
                <a:solidFill>
                  <a:srgbClr val="1F2A44"/>
                </a:solidFill>
                <a:latin typeface="Consolas"/>
              </a:defRPr>
            </a:pPr>
            <a:r>
              <a:t>     |- Sp  Bp   SBp  BBp</a:t>
            </a:r>
          </a:p>
          <a:p>
            <a:pPr>
              <a:defRPr sz="1300">
                <a:solidFill>
                  <a:srgbClr val="1F2A44"/>
                </a:solidFill>
                <a:latin typeface="Consolas"/>
              </a:defRPr>
            </a:pPr>
            <a:r>
              <a:t>     |- So  Bo   SBo  BBo</a:t>
            </a:r>
          </a:p>
          <a:p>
            <a:pPr>
              <a:defRPr sz="1300">
                <a:solidFill>
                  <a:srgbClr val="1F2A44"/>
                </a:solidFill>
                <a:latin typeface="Consolas"/>
              </a:defRPr>
            </a:pPr>
            <a:r>
              <a:t>     |- Ss  Bs   SBs  BBs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F2A44"/>
                </a:solidFill>
              </a:defRPr>
            </a:pPr>
            <a:r>
              <a:t>Every dataset is a bit-packed buffer with two attributes: width (bits per entry) and numEntries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A44"/>
                </a:solidFill>
              </a:defRPr>
            </a:pPr>
            <a:r>
              <a:t>Dictionary design</a:t>
            </a:r>
          </a:p>
          <a:p>
            <a:pPr>
              <a:defRPr sz="1400">
                <a:solidFill>
                  <a:srgbClr val="555A66"/>
                </a:solidFill>
              </a:defRPr>
            </a:pPr>
            <a:r>
              <a:t>One strict total order does all the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51560"/>
            <a:ext cx="11155680" cy="2540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F2A44"/>
                </a:solidFill>
              </a:defRPr>
            </a:pPr>
            <a:r>
              <a:t>NodeComparator: a strict total order over RDF terms</a:t>
            </a:r>
          </a:p>
          <a:p>
            <a:pPr lvl="1">
              <a:spcAft>
                <a:spcPts val="600"/>
              </a:spcAft>
              <a:defRPr sz="1500" b="0">
                <a:solidFill>
                  <a:srgbClr val="555A66"/>
                </a:solidFill>
              </a:defRPr>
            </a:pPr>
            <a:r>
              <a:t>Default-graph sentinel first, then BNode &lt; URI &lt; Literal; literals ordered by VALUE (2 &lt; 10), with exact-term tie-breaks so distinct terms get distinct positions</a:t>
            </a:r>
          </a:p>
          <a:p>
            <a:pPr>
              <a:spcAft>
                <a:spcPts val="600"/>
              </a:spcAft>
              <a:defRPr sz="1700" b="1">
                <a:solidFill>
                  <a:srgbClr val="1F2A44"/>
                </a:solidFill>
              </a:defRPr>
            </a:pPr>
            <a:r>
              <a:t>An id IS a rank</a:t>
            </a:r>
          </a:p>
          <a:p>
            <a:pPr lvl="1">
              <a:spcAft>
                <a:spcPts val="600"/>
              </a:spcAft>
              <a:defRPr sz="1500" b="0">
                <a:solidFill>
                  <a:srgbClr val="555A66"/>
                </a:solidFill>
              </a:defRPr>
            </a:pPr>
            <a:r>
              <a:t>Sort the distinct terms of a section; a term's 1-based position is its id. locate() = binary search; extract() = indexed read. No hash tables in the file</a:t>
            </a:r>
          </a:p>
          <a:p>
            <a:pPr>
              <a:spcAft>
                <a:spcPts val="600"/>
              </a:spcAft>
              <a:defRPr sz="1700" b="1">
                <a:solidFill>
                  <a:srgbClr val="1F2A44"/>
                </a:solidFill>
              </a:defRPr>
            </a:pPr>
            <a:r>
              <a:t>Three sections, two id spaces</a:t>
            </a:r>
          </a:p>
          <a:p>
            <a:pPr lvl="1">
              <a:spcAft>
                <a:spcPts val="600"/>
              </a:spcAft>
              <a:defRPr sz="1500" b="0">
                <a:solidFill>
                  <a:srgbClr val="555A66"/>
                </a:solidFill>
              </a:defRPr>
            </a:pPr>
            <a:r>
              <a:t>entities (URIs+bnodes usable as G/S/O) -&gt; ids 1..E   |   predicates -&gt; ids 1..P</a:t>
            </a:r>
          </a:p>
          <a:p>
            <a:pPr lvl="1">
              <a:spcAft>
                <a:spcPts val="600"/>
              </a:spcAft>
              <a:defRPr sz="1500" b="0">
                <a:solidFill>
                  <a:srgbClr val="555A66"/>
                </a:solidFill>
              </a:defRPr>
            </a:pPr>
            <a:r>
              <a:t>objects: entities keep 1..E, literals follow as E+1..E+L — matching the macro order, so sorting quads by id tuple equals sorting them by term</a:t>
            </a:r>
          </a:p>
          <a:p>
            <a:pPr>
              <a:spcAft>
                <a:spcPts val="600"/>
              </a:spcAft>
              <a:defRPr sz="1700" b="1">
                <a:solidFill>
                  <a:srgbClr val="1F2A44"/>
                </a:solidFill>
              </a:defRPr>
            </a:pPr>
            <a:r>
              <a:t>That id/rank equivalence is what lets the fast writers sort packed integer keys instead of comparing nodes — provably the same order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A44"/>
                </a:solidFill>
              </a:defRPr>
            </a:pPr>
            <a:r>
              <a:t>Inside a dictionary section</a:t>
            </a:r>
          </a:p>
          <a:p>
            <a:pPr>
              <a:defRPr sz="1400">
                <a:solidFill>
                  <a:srgbClr val="555A66"/>
                </a:solidFill>
              </a:defRPr>
            </a:pPr>
            <a:r>
              <a:t>Columnar node encoding (entities / predicates / literals)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51560"/>
            <a:ext cx="11155680" cy="2540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11556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F2A44"/>
                </a:solidFill>
                <a:latin typeface="Consolas"/>
              </a:defRPr>
            </a:pPr>
            <a:r>
              <a:t>per node (in sorted order):   datatypes[i]   offsets[i]        value storage</a:t>
            </a:r>
          </a:p>
          <a:p>
            <a:pPr>
              <a:defRPr sz="1200">
                <a:solidFill>
                  <a:srgbClr val="1F2A44"/>
                </a:solidFill>
                <a:latin typeface="Consolas"/>
              </a:defRPr>
            </a:pPr>
            <a:r>
              <a:t>  URI                         IRI / REL_IRI  -&gt; iri            front-coded (FCD) string blocks</a:t>
            </a:r>
          </a:p>
          <a:p>
            <a:pPr>
              <a:defRPr sz="1200">
                <a:solidFill>
                  <a:srgbClr val="1F2A44"/>
                </a:solidFill>
                <a:latin typeface="Consolas"/>
              </a:defRPr>
            </a:pPr>
            <a:r>
              <a:t>  blank node                  BNODE          0                 nothing! label regenerated from rank</a:t>
            </a:r>
          </a:p>
          <a:p>
            <a:pPr>
              <a:defRPr sz="1200">
                <a:solidFill>
                  <a:srgbClr val="1F2A44"/>
                </a:solidFill>
                <a:latin typeface="Consolas"/>
              </a:defRPr>
            </a:pPr>
            <a:r>
              <a:t>  xsd:int / long              INTEGER/LONG   -&gt; integers/longs bit-packed values</a:t>
            </a:r>
          </a:p>
          <a:p>
            <a:pPr>
              <a:defRPr sz="1200">
                <a:solidFill>
                  <a:srgbClr val="1F2A44"/>
                </a:solidFill>
                <a:latin typeface="Consolas"/>
              </a:defRPr>
            </a:pPr>
            <a:r>
              <a:t>  xsd:float / double          FLOAT/DOUBLE   -&gt; floats/doubles raw IEEE buffers</a:t>
            </a:r>
          </a:p>
          <a:p>
            <a:pPr>
              <a:defRPr sz="1200">
                <a:solidFill>
                  <a:srgbClr val="1F2A44"/>
                </a:solidFill>
                <a:latin typeface="Consolas"/>
              </a:defRPr>
            </a:pPr>
            <a:r>
              <a:t>  any other literal           STRING         -&gt; strings        FCD blocks + typedLiterals (datatype id)</a:t>
            </a:r>
          </a:p>
          <a:p>
            <a:pPr>
              <a:defRPr sz="1200">
                <a:solidFill>
                  <a:srgbClr val="1F2A44"/>
                </a:solidFill>
                <a:latin typeface="Consolas"/>
              </a:defRPr>
            </a:pPr>
            <a:r>
              <a:t>  language-tagged             STRING         -&gt; strings        + langTags (id into langs dictionary)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F2A44"/>
                </a:solidFill>
              </a:defRPr>
            </a:pPr>
            <a:r>
              <a:t>Front-coded dictionaries (FCD): sorted strings share prefixes; every 16th string is stored whole, the rest as (shared-prefix length, suffix)</a:t>
            </a:r>
          </a:p>
          <a:p>
            <a:pPr>
              <a:spcAft>
                <a:spcPts val="600"/>
              </a:spcAft>
              <a:defRPr sz="1500" b="0">
                <a:solidFill>
                  <a:srgbClr val="1F2A44"/>
                </a:solidFill>
              </a:defRPr>
            </a:pPr>
            <a:r>
              <a:t>Numeric literals are stored by VALUE and re-canonicalized at ingest, so “01”^^xsd:int and “1”^^xsd:int collapse to one entry</a:t>
            </a:r>
          </a:p>
          <a:p>
            <a:pPr>
              <a:spcAft>
                <a:spcPts val="600"/>
              </a:spcAft>
              <a:defRPr sz="1500" b="0">
                <a:solidFill>
                  <a:srgbClr val="1F2A44"/>
                </a:solidFill>
              </a:defRPr>
            </a:pPr>
            <a:r>
              <a:t>Blank nodes cost zero bytes of text: the format stores only their rank; readers mint labels from ids (output is isomorphic, labels are not data)</a:t>
            </a:r>
          </a:p>
          <a:p>
            <a:pPr>
              <a:spcAft>
                <a:spcPts val="600"/>
              </a:spcAft>
              <a:defRPr sz="1500" b="0">
                <a:solidFill>
                  <a:srgbClr val="1F2A44"/>
                </a:solidFill>
              </a:defRPr>
            </a:pPr>
            <a:r>
              <a:t>VoID + SPARQL Service Description statistics are embedded as ordinary quads in graph urn:x-beakgraph:void at build 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A44"/>
                </a:solidFill>
              </a:defRPr>
            </a:pPr>
            <a:r>
              <a:t>GSPO / GPOS indexes</a:t>
            </a:r>
          </a:p>
          <a:p>
            <a:pPr>
              <a:defRPr sz="1400">
                <a:solidFill>
                  <a:srgbClr val="555A66"/>
                </a:solidFill>
              </a:defRPr>
            </a:pPr>
            <a:r>
              <a:t>A three-level id trie in flat arrays (HDT-style)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51560"/>
            <a:ext cx="11155680" cy="2540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115568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F2A44"/>
                </a:solidFill>
                <a:latin typeface="Consolas"/>
              </a:defRPr>
            </a:pPr>
            <a:r>
              <a:t>quads sorted by (g,s,p,o):    g=1: (s=2,p=1,o=7) (s=2,p=3,o=4) (s=5,p=1,o=7)     g=3: (s=2,p=1,o=9)</a:t>
            </a:r>
          </a:p>
          <a:p>
            <a:pPr>
              <a:defRPr sz="1200">
                <a:solidFill>
                  <a:srgbClr val="1F2A44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1F2A44"/>
                </a:solidFill>
                <a:latin typeface="Consolas"/>
              </a:defRPr>
            </a:pPr>
            <a:r>
              <a:t>level 1  Ss = 2 5 | 2         one entry per distinct (g,s);  Bs bit=1 marks a new g</a:t>
            </a:r>
          </a:p>
          <a:p>
            <a:pPr>
              <a:defRPr sz="1200">
                <a:solidFill>
                  <a:srgbClr val="1F2A44"/>
                </a:solidFill>
                <a:latin typeface="Consolas"/>
              </a:defRPr>
            </a:pPr>
            <a:r>
              <a:t>level 2  Sp = 1 3 1 | 1       one entry per distinct (g,s,p); Bp bit=1 marks a new (g,s)</a:t>
            </a:r>
          </a:p>
          <a:p>
            <a:pPr>
              <a:defRPr sz="1200">
                <a:solidFill>
                  <a:srgbClr val="1F2A44"/>
                </a:solidFill>
                <a:latin typeface="Consolas"/>
              </a:defRPr>
            </a:pPr>
            <a:r>
              <a:t>level 3  So = 7 4 7 | 9       one entry per quad;             Bo bit=1 marks a new (g,s,p)</a:t>
            </a:r>
          </a:p>
          <a:p>
            <a:pPr>
              <a:defRPr sz="1200">
                <a:solidFill>
                  <a:srgbClr val="1F2A44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1F2A44"/>
                </a:solidFill>
                <a:latin typeface="Consolas"/>
              </a:defRPr>
            </a:pPr>
            <a:r>
              <a:t>empty graph ids are padded with one dummy row (S=0, B=1) per level,</a:t>
            </a:r>
          </a:p>
          <a:p>
            <a:pPr>
              <a:defRPr sz="1200">
                <a:solidFill>
                  <a:srgbClr val="1F2A44"/>
                </a:solidFill>
                <a:latin typeface="Consolas"/>
              </a:defRPr>
            </a:pPr>
            <a:r>
              <a:t>so graph gi's region is always addressable as select1(Bs-level, gi)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F2A44"/>
                </a:solidFill>
              </a:defRPr>
            </a:pPr>
            <a:r>
              <a:t>S buffers hold ids; B bitmaps delimit parent boundaries — together they encode the trie with zero pointers</a:t>
            </a:r>
          </a:p>
          <a:p>
            <a:pPr>
              <a:spcAft>
                <a:spcPts val="600"/>
              </a:spcAft>
              <a:defRPr sz="1500" b="0">
                <a:solidFill>
                  <a:srgbClr val="1F2A44"/>
                </a:solidFill>
              </a:defRPr>
            </a:pPr>
            <a:r>
              <a:t>Navigation: the children of prefix #k live between select1(B, k)+adjacent boundaries; each level's range is then binary-searched for the wanted id (ids are sorted within a parent)</a:t>
            </a:r>
          </a:p>
          <a:p>
            <a:pPr>
              <a:spcAft>
                <a:spcPts val="600"/>
              </a:spcAft>
              <a:defRPr sz="1500" b="0">
                <a:solidFill>
                  <a:srgbClr val="1F2A44"/>
                </a:solidFill>
              </a:defRPr>
            </a:pPr>
            <a:r>
              <a:t>GSPO answers (g,s,?,?)-shaped patterns; GPOS answers (g,?,p,o)-shaped ones; duplicates were removed during the build scan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A44"/>
                </a:solidFill>
              </a:defRPr>
            </a:pPr>
            <a:r>
              <a:t>Rank / select directories (SB, BB)</a:t>
            </a:r>
          </a:p>
          <a:p>
            <a:pPr>
              <a:defRPr sz="1400">
                <a:solidFill>
                  <a:srgbClr val="555A66"/>
                </a:solidFill>
              </a:defRPr>
            </a:pPr>
            <a:r>
              <a:t>O(log n) select1 over the B bitmaps — format version 3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51560"/>
            <a:ext cx="11155680" cy="2540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F2A44"/>
                </a:solidFill>
              </a:defRPr>
            </a:pPr>
            <a:r>
              <a:t>Each B bitmap carries a two-tier directory, sized in the build scan:</a:t>
            </a:r>
          </a:p>
          <a:p>
            <a:pPr lvl="1">
              <a:spcAft>
                <a:spcPts val="600"/>
              </a:spcAft>
              <a:defRPr sz="1500" b="0">
                <a:solidFill>
                  <a:srgbClr val="555A66"/>
                </a:solidFill>
              </a:defRPr>
            </a:pPr>
            <a:r>
              <a:t>SB[j] = total 1-bits in the first j superblocks (SUPERBLOCK = 512 bits); SB[0] = 0</a:t>
            </a:r>
          </a:p>
          <a:p>
            <a:pPr lvl="1">
              <a:spcAft>
                <a:spcPts val="600"/>
              </a:spcAft>
              <a:defRPr sz="1500" b="0">
                <a:solidFill>
                  <a:srgbClr val="555A66"/>
                </a:solidFill>
              </a:defRPr>
            </a:pPr>
            <a:r>
              <a:t>BB[k] = 1-bits between block k's superblock start and block k (BLOCK = 64 bits = one machine word); BB[k] = 0 when k opens its superblock</a:t>
            </a:r>
          </a:p>
          <a:p>
            <a:pPr>
              <a:spcAft>
                <a:spcPts val="600"/>
              </a:spcAft>
              <a:defRPr sz="1700" b="1">
                <a:solidFill>
                  <a:srgbClr val="1F2A44"/>
                </a:solidFill>
              </a:defRPr>
            </a:pPr>
            <a:r>
              <a:t>select1(rank): binary-search SB, then BB, then one broadword scan inside a single 64-bit word</a:t>
            </a:r>
          </a:p>
          <a:p>
            <a:pPr>
              <a:spcAft>
                <a:spcPts val="600"/>
              </a:spcAft>
              <a:defRPr sz="1700" b="1">
                <a:solidFill>
                  <a:srgbClr val="1F2A44"/>
                </a:solidFill>
              </a:defRPr>
            </a:pPr>
            <a:r>
              <a:t>BLOCK = word size means writers can derive the whole directory from word popcount prefix sums — and readers never disagree with the linear fallback</a:t>
            </a:r>
          </a:p>
          <a:p>
            <a:pPr>
              <a:spcAft>
                <a:spcPts val="600"/>
              </a:spcAft>
              <a:defRPr sz="1700" b="1">
                <a:solidFill>
                  <a:srgbClr val="1F2A44"/>
                </a:solidFill>
              </a:defRPr>
            </a:pPr>
            <a:r>
              <a:t>Files older than format version 3 have an incompatible directory: readers detect the version and fall back to a linear select1 scan (slower, still correct)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A44"/>
                </a:solidFill>
              </a:defRPr>
            </a:pPr>
            <a:r>
              <a:t>The storage primitive: bit-packed unsigned buffers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51560"/>
            <a:ext cx="11155680" cy="2540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F2A44"/>
                </a:solidFill>
              </a:defRPr>
            </a:pPr>
            <a:r>
              <a:t>Every integer dataset is the same primitive: numEntries values of width bits, packed MSB-first into big-endian bytes</a:t>
            </a:r>
          </a:p>
          <a:p>
            <a:pPr lvl="1">
              <a:spcAft>
                <a:spcPts val="600"/>
              </a:spcAft>
              <a:defRPr sz="1500" b="0">
                <a:solidFill>
                  <a:srgbClr val="555A66"/>
                </a:solidFill>
              </a:defRPr>
            </a:pPr>
            <a:r>
              <a:t>width is the minimum multiple of 8 that fits the value range (MinBits of the max id), so a store with 40M objects spends 4 bytes per object id, not 8</a:t>
            </a:r>
          </a:p>
          <a:p>
            <a:pPr lvl="1">
              <a:spcAft>
                <a:spcPts val="600"/>
              </a:spcAft>
              <a:defRPr sz="1500" b="0">
                <a:solidFill>
                  <a:srgbClr val="555A66"/>
                </a:solidFill>
              </a:defRPr>
            </a:pPr>
            <a:r>
              <a:t>1-bit width = the B bitmaps; 64-bit width carries full two's-complement longs</a:t>
            </a:r>
          </a:p>
          <a:p>
            <a:pPr>
              <a:spcAft>
                <a:spcPts val="600"/>
              </a:spcAft>
              <a:defRPr sz="1700" b="1">
                <a:solidFill>
                  <a:srgbClr val="1F2A44"/>
                </a:solidFill>
              </a:defRPr>
            </a:pPr>
            <a:r>
              <a:t>Byte-aligned widths are what make the parallel writers possible: entry i occupies exactly bytes [i*w/8, (i+1)*w/8) — concurrent positional writes never share a byte</a:t>
            </a:r>
          </a:p>
          <a:p>
            <a:pPr>
              <a:spcAft>
                <a:spcPts val="600"/>
              </a:spcAft>
              <a:defRPr sz="1700" b="1">
                <a:solidFill>
                  <a:srgbClr val="1F2A44"/>
                </a:solidFill>
              </a:defRPr>
            </a:pPr>
            <a:r>
              <a:t>Readers address entries by long offsets (no 2 GiB ceiling) over jHDF-mapped, FFM-mapped, or HTTP-ranged bytes</a:t>
            </a:r>
          </a:p>
          <a:p>
            <a:pPr>
              <a:spcAft>
                <a:spcPts val="600"/>
              </a:spcAft>
              <a:defRPr sz="1700" b="1">
                <a:solidFill>
                  <a:srgbClr val="1F2A44"/>
                </a:solidFill>
              </a:defRPr>
            </a:pPr>
            <a:r>
              <a:t>binarySearch / lowerBound / upperBound operate directly on the packed form with unsigned comparison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A44"/>
                </a:solidFill>
              </a:defRPr>
            </a:pPr>
            <a:r>
              <a:t>Query path</a:t>
            </a:r>
          </a:p>
          <a:p>
            <a:pPr>
              <a:defRPr sz="1400">
                <a:solidFill>
                  <a:srgbClr val="555A66"/>
                </a:solidFill>
              </a:defRPr>
            </a:pPr>
            <a:r>
              <a:t>From SPARQL triple pattern to matching quads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51560"/>
            <a:ext cx="11155680" cy="2540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11556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F2A44"/>
                </a:solidFill>
                <a:latin typeface="Consolas"/>
              </a:defRPr>
            </a:pPr>
            <a:r>
              <a:t>(g, s, p, ?)  --&gt;  locate ids in dictionaries        (binary search, FCD-decoded)</a:t>
            </a:r>
          </a:p>
          <a:p>
            <a:pPr>
              <a:defRPr sz="1200">
                <a:solidFill>
                  <a:srgbClr val="1F2A44"/>
                </a:solidFill>
                <a:latin typeface="Consolas"/>
              </a:defRPr>
            </a:pPr>
            <a:r>
              <a:t>              --&gt;  pick index: bound s? GSPO : GPOS</a:t>
            </a:r>
          </a:p>
          <a:p>
            <a:pPr>
              <a:defRPr sz="1200">
                <a:solidFill>
                  <a:srgbClr val="1F2A44"/>
                </a:solidFill>
                <a:latin typeface="Consolas"/>
              </a:defRPr>
            </a:pPr>
            <a:r>
              <a:t>              --&gt;  level 1: select1(Bs, g-rank) delimits g's subjects; binary-search s</a:t>
            </a:r>
          </a:p>
          <a:p>
            <a:pPr>
              <a:defRPr sz="1200">
                <a:solidFill>
                  <a:srgbClr val="1F2A44"/>
                </a:solidFill>
                <a:latin typeface="Consolas"/>
              </a:defRPr>
            </a:pPr>
            <a:r>
              <a:t>              --&gt;  level 2: select1(Bp, ...) delimits (g,s)'s predicates; binary-search p</a:t>
            </a:r>
          </a:p>
          <a:p>
            <a:pPr>
              <a:defRPr sz="1200">
                <a:solidFill>
                  <a:srgbClr val="1F2A44"/>
                </a:solidFill>
                <a:latin typeface="Consolas"/>
              </a:defRPr>
            </a:pPr>
            <a:r>
              <a:t>              --&gt;  level 3: select1(Bo, ...) delimits (g,s,p)'s objects; stream them</a:t>
            </a:r>
          </a:p>
          <a:p>
            <a:pPr>
              <a:defRPr sz="1200">
                <a:solidFill>
                  <a:srgbClr val="1F2A44"/>
                </a:solidFill>
                <a:latin typeface="Consolas"/>
              </a:defRPr>
            </a:pPr>
            <a:r>
              <a:t>              --&gt;  extract(id) turns each id back into a term (rank lookup)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6616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F2A44"/>
                </a:solidFill>
              </a:defRPr>
            </a:pPr>
            <a:r>
              <a:t>Every step is a handful of range reads over packed buffers — ideal for memory maps and HTTP range requests alike</a:t>
            </a:r>
          </a:p>
          <a:p>
            <a:pPr>
              <a:spcAft>
                <a:spcPts val="600"/>
              </a:spcAft>
              <a:defRPr sz="1500" b="0">
                <a:solidFill>
                  <a:srgbClr val="1F2A44"/>
                </a:solidFill>
              </a:defRPr>
            </a:pPr>
            <a:r>
              <a:t>Value-ordered literal ids make range filters (x &gt; 5) pushdown-able as contiguous id ranges (ValueCluster)</a:t>
            </a:r>
          </a:p>
          <a:p>
            <a:pPr>
              <a:spcAft>
                <a:spcPts val="600"/>
              </a:spcAft>
              <a:defRPr sz="1500" b="0">
                <a:solidFill>
                  <a:srgbClr val="1F2A44"/>
                </a:solidFill>
              </a:defRPr>
            </a:pPr>
            <a:r>
              <a:t>Optional spatial layer: geometries are Hilbert-indexed into cell ids stored as ordinary quads in graph urn:x-beakgraph:Spatial, so spatial queries ride the same index machinery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A44"/>
                </a:solidFill>
              </a:defRPr>
            </a:pPr>
            <a:r>
              <a:t>Five writers, one format</a:t>
            </a:r>
          </a:p>
          <a:p>
            <a:pPr>
              <a:defRPr sz="1400">
                <a:solidFill>
                  <a:srgbClr val="555A66"/>
                </a:solidFill>
              </a:defRPr>
            </a:pPr>
            <a:r>
              <a:t>-method 0..4: same file, different build machinery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51560"/>
            <a:ext cx="11155680" cy="2540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11556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F2A44"/>
                </a:solidFill>
                <a:latin typeface="Consolas"/>
              </a:defRPr>
            </a:pPr>
            <a:r>
              <a:t>-method  engine                        memory             parallelism</a:t>
            </a:r>
          </a:p>
          <a:p>
            <a:pPr>
              <a:defRPr sz="1200">
                <a:solidFill>
                  <a:srgbClr val="1F2A44"/>
                </a:solidFill>
                <a:latin typeface="Consolas"/>
              </a:defRPr>
            </a:pPr>
            <a:r>
              <a:t>   0     sequential in-memory          whole input on heap    -</a:t>
            </a:r>
          </a:p>
          <a:p>
            <a:pPr>
              <a:defRPr sz="1200">
                <a:solidFill>
                  <a:srgbClr val="1F2A44"/>
                </a:solidFill>
                <a:latin typeface="Consolas"/>
              </a:defRPr>
            </a:pPr>
            <a:r>
              <a:t>   1     huge: disk-based pipeline     bounded (spills)       -</a:t>
            </a:r>
          </a:p>
          <a:p>
            <a:pPr>
              <a:defRPr sz="1200">
                <a:solidFill>
                  <a:srgbClr val="1F2A44"/>
                </a:solidFill>
                <a:latin typeface="Consolas"/>
              </a:defRPr>
            </a:pPr>
            <a:r>
              <a:t>   2     parallel in-memory            whole input on heap  -cores</a:t>
            </a:r>
          </a:p>
          <a:p>
            <a:pPr>
              <a:defRPr sz="1200">
                <a:solidFill>
                  <a:srgbClr val="1F2A44"/>
                </a:solidFill>
                <a:latin typeface="Consolas"/>
              </a:defRPr>
            </a:pPr>
            <a:r>
              <a:t>   3     ultra in-memory               whole input on heap  -cores   packed-key radix sorts,</a:t>
            </a:r>
          </a:p>
          <a:p>
            <a:pPr>
              <a:defRPr sz="1200">
                <a:solidFill>
                  <a:srgbClr val="1F2A44"/>
                </a:solidFill>
                <a:latin typeface="Consolas"/>
              </a:defRPr>
            </a:pPr>
            <a:r>
              <a:t>                                                                     O(1) id maps, parallel emission</a:t>
            </a:r>
          </a:p>
          <a:p>
            <a:pPr>
              <a:defRPr sz="1200">
                <a:solidFill>
                  <a:srgbClr val="1F2A44"/>
                </a:solidFill>
                <a:latin typeface="Consolas"/>
              </a:defRPr>
            </a:pPr>
            <a:r>
              <a:t>   4     hugeUltra: disk-based         bounded (spills)     -cores   background radix-sorted spills,</a:t>
            </a:r>
          </a:p>
          <a:p>
            <a:pPr>
              <a:defRPr sz="1200">
                <a:solidFill>
                  <a:srgbClr val="1F2A44"/>
                </a:solidFill>
                <a:latin typeface="Consolas"/>
              </a:defRPr>
            </a:pPr>
            <a:r>
              <a:t>                                                                     grouped term runs, concurrent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3192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F2A44"/>
                </a:solidFill>
              </a:defRPr>
            </a:pPr>
            <a:r>
              <a:t>Shared invariant: ids are NodeComparator ranks, so id-order == term-order — every engine provably emits the same index content</a:t>
            </a:r>
          </a:p>
          <a:p>
            <a:pPr>
              <a:spcAft>
                <a:spcPts val="600"/>
              </a:spcAft>
              <a:defRPr sz="1500" b="0">
                <a:solidFill>
                  <a:srgbClr val="1F2A44"/>
                </a:solidFill>
              </a:defRPr>
            </a:pPr>
            <a:r>
              <a:t>Disk engines (1, 4): external merge sort of (term,row) records -&gt; dictionaries by merge-dedup -&gt; ids by sort-merge join -&gt; two id-quad sorts -&gt; streamed HDF5. RAM bounded by spill batch sizes at ANY quad count</a:t>
            </a:r>
          </a:p>
          <a:p>
            <a:pPr>
              <a:spcAft>
                <a:spcPts val="600"/>
              </a:spcAft>
              <a:defRPr sz="1500" b="0">
                <a:solidFill>
                  <a:srgbClr val="1F2A44"/>
                </a:solidFill>
              </a:defRPr>
            </a:pPr>
            <a:r>
              <a:t>In-memory outputs are structurally identical per source; disk outputs are isomorphic (rank-derived bnode labels)</a:t>
            </a:r>
          </a:p>
          <a:p>
            <a:pPr>
              <a:spcAft>
                <a:spcPts val="600"/>
              </a:spcAft>
              <a:defRPr sz="1500" b="0">
                <a:solidFill>
                  <a:srgbClr val="1F2A44"/>
                </a:solidFill>
              </a:defRPr>
            </a:pPr>
            <a:r>
              <a:t>All engines publish atomically: build to sibling .tmp, rename over destination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